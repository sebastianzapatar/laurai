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Servicios AWS para el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9900"/>
                </a:solidFill>
                <a:latin typeface="Calibri"/>
              </a:rPr>
              <a:t>lauracanceleatiempo – Spring Boot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B8D8"/>
                </a:solidFill>
                <a:latin typeface="Calibri"/>
              </a:rPr>
              <a:t>Infraestructura como Código con Terraform + CI/CD con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D8"/>
                </a:solidFill>
                <a:latin typeface="Calibri"/>
              </a:rPr>
              <a:t>Abril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Arquitectura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D8"/>
                </a:solidFill>
                <a:latin typeface="Calibri"/>
              </a:rPr>
              <a:t>Visión de extremo a extremo: del código fuente al contenedor corriendo en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👨‍💻  Dev /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🔄  GitHub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🐳  Amazon ECR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⚙️   Amazon ECS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⚖️   ALB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828800"/>
            <a:ext cx="1645920" cy="91440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  <a:latin typeface="Calibri"/>
              </a:rPr>
              <a:t>🌍 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Servicios de Soporte: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🔐 IAM
(Seguridad)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🌐 VPC
(Red Privada)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🗄️  RDS PostgreSQL
(Base de Datos)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🔑 SSM Parameters
(Secretos)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📊 CloudWatch
(Monitoreo)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566160"/>
            <a:ext cx="1691640" cy="1005840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36576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📦 Terraform
(IaC)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Networking  |  Capa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Amazon VPC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Virtual Private Cloud – La red privada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Aísla completamente la aplicación de otros recursos de AWS.
• Permite definir exactamente quién puede hablar con quién dentro de la nube.
• Separa las capas (pública vs. privada): el balanceador atiende internet, mientras la BD y los contenedores son inaccesibles desde afuera.
• Es el requisito base de casi todos los servicios administrados de AWS (RDS, ECS, ALB).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Se crean 2 Subredes Públicas (usadas por el ALB) y 2 Subredes Privadas (usadas por ECS y RDS).
• Un Internet Gateway permite que las subredes públicas reciban tráfico desde internet.
• Un NAT Gateway en la subred pública permite que ECS (en subredes privadas) descargue imágenes de ECR sin estar expuesto directamente.
• Tablas de rutas distintas para tráfico público e interno.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Base de Datos  | 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Amazon 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Relational Database Service – Base de datos administrada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Sin RDS, habría que instalar, actualizar y hacer backups de PostgreSQL manualmente.
• AWS gestiona automáticamente: actualizaciones, snapshots periódicos, failover Multi-AZ y cifrado en reposo.
• Garantiza alta disponibilidad para los datos del restaurante (platos, pedidos, usuarios) sin esfuerzo operacional adicional.
• Más seguro al residir en una subred privada: ningún tráfico externo puede alcanzarlo directamente.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Se aprovisiona una instancia PostgreSQL dentro de las subredes privadas de la VPC.
• El Security Group de RDS solo acepta conexiones del Security Group de ECS, bloqueando todo lo demás.
• La URL de conexión generada se guarda automáticamente en SSM Parameter Store para que los contenedores la lean en inicio.
• Configurado con un DB Subnet Group para asegurar que queda en la VPC correcta.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Contenedores  |  Registro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Amazon ECR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Elastic Container Registry – Registro privado de imágenes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Docker Hub es público; ECR es privado y vive dentro de tu cuenta AWS, con integración nativa en ECS.
• Sin latencia adicional al desplegar: ECR y ECS están en la misma región.
• Control de acceso granular con IAM: solo los roles autorizados pueden hacer pull o push.
• Escaneo de vulnerabilidades automático en cada imagen subida.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GitHub Actions autentica con AWS y hace docker push de la nueva imagen compilada al repositorio ECR.
• Los Tags usados son el SHA del commit (para rastreo) y latest para producción.
• Al actualizar el servicio ECS, este descarga la imagen más reciente directamente desde ECR sin salir a internet público.
• El repositorio es creado automáticamente por el módulo ecr/ de Terraform.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Cómputo  |  Contenedor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Amazon ECS + Fargate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Elastic Container Service – Orquestador Serverless de contenedores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ECS Fargate elimina la necesidad de administrar servidores EC2: no hay que parchear sistemas operativos ni gestionar capacidad.
• Escala horizontalmente los contenedores cuando la carga sube y los reduce automáticamente cuando baja.
• Soporta Zero Downtime Deployment: lanza tareas nuevas antes de apagar las viejas.
• Integración directa con IAM, CloudWatch, ECR y SSM sin configuración adicional.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Se define una Task Definition que especifica: imagen, CPU/RAM, puerto, variables inyectadas de SSM y configuración de logs.
• GitHub Actions actualiza la Task Definition con cada nueva imagen y notifica al Servicio ECS.
• Circuit Breaker activado: si un deploy falla, ECS hace rollback al último estado estable automáticamente.
• El servicio corre con Fargate en las subredes privadas, balanceado por el ALB público.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Redes  |  Punto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Load Balancer (ALB)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Balanceador de carga de capa 7 – Punto de entrada público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Es el único punto de la arquitectura directamente expuesto a internet, actuando como puerta de entrada controlada.
• Distribuye el tráfico entre múltiples instancias del contenedor, mejorando disponibilidad y tolerancia a fallos.
• Soporte nativo de health checks: si un contenedor no responde, el ALB deja de enviarle tráfico.
• En el futuro permite agregar HTTPS/SSL con AWS Certificate Manager sin cambiar la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El ALB escucha en el puerto 80 (HTTP) y redirige al Target Group que apunta a los contenedores ECS.
• El health check apunta a /actuator/health de Spring Boot para validar si la app está lista.
• El DNS público del ALB es la URL de producción del API (ej: laura-alb-xxxxx.us-east-2.elb.amazonaws.com).
• Sus Security Groups son los únicos que permiten tráfico desde 0.0.0.0/0 en los puertos 80 y 443.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Seguridad  |  Secretos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AWS SSM Parameter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Systems Manager Parameter Store – Gestión segura de secretos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Guardar contraseñas o URLs sensibles directamente en el código o en el repositorio es un grave riesgo de seguridad.
• SSM permite que los secretos sean inyectados en los contenedores en el momento del arranque, sin que aparezcan en logs o archivos.
• Integración directa con ECS: los parámetros se resuelven automáticamente antes de que el contenedor inicie.
• Auditoría completa: AWS CloudTrail registra quién accedió a qué parámetro y cuándo.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Terraform publica automáticamente 4 parámetros al hacer apply:
  - /laura/.../SPRING_DATASOURCE_URL
  - /laura/.../SPRING_DATASOURCE_USERNAME
  - /laura/.../SPRING_DATASOURCE_PASSWORD
  - /laura/.../KEYCLOAK_ISSUER_URI
• La Task Definition de ECS usa valueFrom para leer cada parámetro en el arranque.
• El rol de ejecución ECS tiene permiso explícito de ssm:GetParameters solo para estos ARNs específicos.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Seguridad  |  Identidad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AWS IAM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Identity and Access Management – Control de acceso y seguridad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IAM es el sistema nervioso de seguridad de AWS: sin él, cualquier servicio podría acceder a cualquier recurso.
• Principio de mínimo privilegio: cada servicio recibe solo los permisos que necesita y nada más.
• Los roles de IAM son temporales y automáticos: no hay contraseñas estáticas que puedan filtrarse.
• Permite auditar todas las acciones realizadas en la cuenta mediante AWS CloudTrail.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Rol de Ejecución (ecs-execution-role): permite a ECS descargar la imagen de ECR y leer parámetros de SSM.
• Rol de Tarea (ecs-task-role): permisos en runtime para la app (actualmente vacío, preparado para expansión como acceso a S3).
• El usuario de GitHub Actions usa las credenciales (Access Key) almacenadas en GitHub Secrets.
• La política AmazonECSTaskExecutionRolePolicy se adjunta automáticamente por Terraform.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Monitoreo  |  Observabilidad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Amazon CloudWatch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Monitoreo y observabilidad de la aplicación en producción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Sin observabilidad, es imposible diagnosticar errores en producción o saber si la app está viva.
• CloudWatch centraliza los logs de todos los contenedores en un solo lugar accesible.
• Permite crear Alarmas automáticas (ej: si hay más de 10 errores en 5 minutos, enviar alerta).
• Container Insights de ECS provee métricas de CPU, RAM y red por tarea sin configuración adicional.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El Log Group /ecs/laura-api está configurado con retención de 30 días para no acumular costos.
• Cada contenedor ECS envía stdout/stderr directamente a CloudWatch mediante el driver awslogs.
• Configurado en la Task Definition con awslogs-group, awslogs-region y awslogs-stream-prefix.
• Container Insights está activado en el clúster ECS para ver métricas de uso de recursos en tiempo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DevOps  |  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HashiCorp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Infraestructura como Código (IaC) – Reproducible y auditada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Sin IaC, crear toda esta arquitectura manualmente en la consola de AWS tomaría horas y sería imposible de replicar.
• Terraform permite versionar la infraestructura en Git junto al código de la aplicación.
• Cambios revisables: terraform plan muestra exactamente qué va a cambiar antes de ejecutarlo.
• Destrucción limpia: terraform destroy elimina todos los recursos creados sin dejar nada huérfano generando costos.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El directorio terraform/ contiene módulos separados para network, rds, ecr, ssm y ecs.
• GitHub Actions ejecuta terraform init → validate → plan → apply automáticamente en cada push a main.
• Las variables sensibles (contraseña de BD, URI de Keycloak) se pasan vía secretos de GitHub y nunca se escriben en el código.
• El ciclo de vida ignore_changes permite que GitHub Actions actualice imágenes en ECS sin que Terraform las revierta.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82880"/>
            <a:ext cx="228600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1A2B"/>
                </a:solidFill>
                <a:latin typeface="Calibri"/>
              </a:rPr>
              <a:t>DevOps  | 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9900"/>
                </a:solidFill>
                <a:latin typeface="Calibri"/>
              </a:rPr>
              <a:t>Pipeline de CI/CD – Automatización completa del despliegue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📌  ¿Por qué usarlo?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Sin automatización, cada despliegue requiere ejecutar manualmente: compilar, buildear Docker, hacer push a ECR y actualizar ECS – propenso a errores humanos.
• Un pipeline garantiza que solo código que pasa las validaciones llega a producción.
• Reduce el tiempo de despliegue de minutos a segundos y elimina pasos manuales repetitivos.
• Historial completo de cada despliegue: qué commit generó qué imagen y cuándo se activó.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52160" cy="4480560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Calibri"/>
              </a:rPr>
              <a:t>⚙️  ¿Cómo se usa en el proyecto?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231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El archivo .github/workflows/aws-ecs.yml define dos Jobs:
  1. Terraform Job: ejecuta init, validate, plan y apply para asegurar que la infraestructura está actualizada.
  2. Deploy Job: compila con Maven, autentica con ECR, construye la imagen Docker, hace push con el SHA del commit, descarga el task-definition.json y actualiza el servicio ECS.
• Se activa automáticamente en cada push a la rama main.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Resumen de la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D8"/>
                </a:solidFill>
                <a:latin typeface="Calibri"/>
              </a:rPr>
              <a:t>Todos los servicios trabajando juntos para un despliegue profesional y escalable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28600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1A2B"/>
                </a:solidFill>
                <a:latin typeface="Calibri"/>
              </a:rPr>
              <a:t>Servicio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325880"/>
            <a:ext cx="594360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417320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1A2B"/>
                </a:solidFill>
                <a:latin typeface="Calibri"/>
              </a:rPr>
              <a:t>Rol en la Arquitectura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325880"/>
            <a:ext cx="320040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17320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1A2B"/>
                </a:solidFill>
                <a:latin typeface="Calibri"/>
              </a:rPr>
              <a:t>Capa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55648"/>
            <a:ext cx="22860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4708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Amazon VPC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55648"/>
            <a:ext cx="59436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847088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Red privada aislada para todos los recursos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755648"/>
            <a:ext cx="32004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8470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Infraestructura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85416"/>
            <a:ext cx="22860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76856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Amazon 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185416"/>
            <a:ext cx="59436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2276856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Base de datos PostgreSQL administrada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185416"/>
            <a:ext cx="32004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276856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15184"/>
            <a:ext cx="22860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706624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Amazon ECR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615184"/>
            <a:ext cx="59436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2706624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Registro privado de imágenes Docker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615184"/>
            <a:ext cx="32004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06624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Contenedores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44952"/>
            <a:ext cx="22860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136392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Amazon ECS Fargate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3044952"/>
            <a:ext cx="59436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136392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Orquestador serverless de contenedores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044952"/>
            <a:ext cx="32004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136392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Cómputo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74720"/>
            <a:ext cx="22860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66160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3474720"/>
            <a:ext cx="59436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3566160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Balanceador de carga y punto de entrada público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474720"/>
            <a:ext cx="32004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3566160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Red / Tráfico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04488"/>
            <a:ext cx="22860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9592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SSM Parameter Store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904488"/>
            <a:ext cx="59436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3995928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Gestión segura de secretos y variables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3904488"/>
            <a:ext cx="32004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99592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34256"/>
            <a:ext cx="22860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425696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4334256"/>
            <a:ext cx="59436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4425696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Control de identidad y permisos mínimos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4334256"/>
            <a:ext cx="32004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4425696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764024"/>
            <a:ext cx="22860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855464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CloudWatch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4764024"/>
            <a:ext cx="59436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4855464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Monitoreo de logs y métricas en producción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4764024"/>
            <a:ext cx="32004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4855464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Observabilidad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193792"/>
            <a:ext cx="22860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285232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Terraform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40" y="5193792"/>
            <a:ext cx="59436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5285232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Infraestructura como Código reproducible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5193792"/>
            <a:ext cx="3200400" cy="429768"/>
          </a:xfrm>
          <a:prstGeom prst="rect">
            <a:avLst/>
          </a:prstGeom>
          <a:solidFill>
            <a:srgbClr val="2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5285232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623560"/>
            <a:ext cx="22860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715000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40" y="5623560"/>
            <a:ext cx="59436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97480" y="5715000"/>
            <a:ext cx="5806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Pipeline CI/CD automatizado end-to-end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5623560"/>
            <a:ext cx="3200400" cy="429768"/>
          </a:xfrm>
          <a:prstGeom prst="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5715000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